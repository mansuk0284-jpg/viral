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4451002"/>
            <a:ext cx="7124700" cy="58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55532" y="1825972"/>
            <a:ext cx="748093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0" sz="3750" i="0" u="none">
                <a:solidFill>
                  <a:srgbClr val="CBD5E1"/>
                </a:solidFill>
                <a:latin typeface="Poppins"/>
              </a:rPr>
              <a:t>[프로젝트/솔루션 명 기재]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5532" y="2587972"/>
            <a:ext cx="748093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b="1" sz="5250" i="0" u="none">
                <a:solidFill>
                  <a:srgbClr val="06B6D4"/>
                </a:solidFill>
                <a:latin typeface="Poppins"/>
              </a:rPr>
              <a:t>생성형 AI</a:t>
            </a:r>
            <a:r>
              <a:rPr b="1" sz="5250" i="0" u="none">
                <a:solidFill>
                  <a:srgbClr val="F8FAFC"/>
                </a:solidFill>
                <a:latin typeface="Poppins"/>
              </a:rPr>
              <a:t> 활용 경진대회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578572"/>
            <a:ext cx="71247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Lato"/>
              </a:rPr>
              <a:t>2~3분 요약 발표용 가이드 템플릿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11833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811833"/>
            <a:ext cx="4943475" cy="1855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왜 이 프로그램을 만들었는가? (배경)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905250"/>
            <a:ext cx="4943475" cy="1855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Lato"/>
              </a:rPr>
              <a:t>누가 사용하는가? (타겟 유저)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21358"/>
            <a:ext cx="5210175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318444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Lato"/>
              </a:rPr>
              <a:t>(가이드) 업무 중 겪었던 비효율, 고객의 불만 등 '페인포인트(Pain Point)'를 1~2문장으로 간결하게 작성해주세요.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57525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예: 매월 반복되는 방대한 데이터 취합 및 보고서 작성에 과도한 시간이 소요됨.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oppins SemiBold"/>
              </a:rPr>
              <a:t>1. 기획 배경 및 타겟 (Why &amp; Who)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830883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24300"/>
            <a:ext cx="952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6775" y="4411860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Lato"/>
              </a:rPr>
              <a:t>(가이드) 이 프로그램의 혜택을 받는 구체적인 대상(직무, 부서 등)을 명시해주세요.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5150941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예: 사내 인사팀 담당자 및 리더십 그룹, 데이터 분석 담당자 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01142"/>
            <a:ext cx="5324475" cy="38080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1142"/>
            <a:ext cx="5324475" cy="3808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420367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Lato"/>
              </a:rPr>
              <a:t>"기존에는 이렇게 일했습니다."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3420367"/>
            <a:ext cx="45434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64748B"/>
                </a:solidFill>
                <a:latin typeface="Lato"/>
              </a:rPr>
              <a:t>"생성형 AI를 통해 이렇게 바뀝니다."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520255"/>
            <a:ext cx="21907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3500" y="2391667"/>
            <a:ext cx="23002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94A3B8"/>
                </a:solidFill>
                <a:latin typeface="Poppins SemiBold"/>
              </a:rPr>
              <a:t>기존 방식 (As-Is)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78990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수작업 데이터 수집 및 가공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4332833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건당 평균 4시간 소요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87575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개인의 역량에 의존한 일관성 부족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520255"/>
            <a:ext cx="3238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0" y="2391667"/>
            <a:ext cx="246030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A5B4FC"/>
                </a:solidFill>
                <a:latin typeface="Poppins SemiBold"/>
              </a:rPr>
              <a:t>AI 도입 후 (To-Be)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78990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Lato"/>
              </a:rPr>
              <a:t>프롬프트 기반 자동 데이터 추출 및 초안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4332833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Lato"/>
              </a:rPr>
              <a:t>건당 평균 10분으로 단축 (95% 감소)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875758"/>
            <a:ext cx="4257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Lato"/>
              </a:rPr>
              <a:t>표준화된 고품질 결과물 도출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oppins SemiBold"/>
              </a:rPr>
              <a:t>2. 프로세스의 변화 (As-Is vs To-Be)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808958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4351883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4894808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3808958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351883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4894808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70769"/>
            <a:ext cx="3486150" cy="4068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870769"/>
            <a:ext cx="3486150" cy="4068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70769"/>
            <a:ext cx="3486150" cy="4068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61294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261419"/>
            <a:ext cx="204025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Poppins SemiBold"/>
              </a:rPr>
              <a:t>시간 단축 (효율성)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단순 반복 업무에서 벗어나, 핵심적이고 창의적인 업무에 집중할 수 있는 시간을 확보합니다.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147369"/>
            <a:ext cx="14478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Lato"/>
              </a:rPr>
              <a:t>예: 주당 15시간 확보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261294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8200" y="3261419"/>
            <a:ext cx="156019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Poppins SemiBold"/>
              </a:rPr>
              <a:t>업무 품질 향상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AI의 객관적 분석과 빠른 초안 작성을 통해 휴먼 에러를 줄이고 산출물의 완성도를 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5147369"/>
            <a:ext cx="140970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Lato"/>
              </a:rPr>
              <a:t>예: 오류율 30% 감소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261294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0100" y="3261419"/>
            <a:ext cx="102012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Poppins SemiBold"/>
              </a:rPr>
              <a:t>비용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3928169"/>
            <a:ext cx="289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외주 작업이나 불필요하게 소모되던 리소스를 절감하여 부서 운영 비용을 효율화합니다.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0100" y="5147369"/>
            <a:ext cx="2028825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1" u="none">
                <a:solidFill>
                  <a:srgbClr val="64748B"/>
                </a:solidFill>
                <a:latin typeface="Lato"/>
              </a:rPr>
              <a:t>예: 연간 외주비 1천만원 절감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2451794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7" y="2451794"/>
            <a:ext cx="428625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0600" y="2451794"/>
            <a:ext cx="381000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oppins SemiBold"/>
              </a:rPr>
              <a:t>3. 도입 효과 및 기대 가치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534066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oppins SemiBold"/>
              </a:rPr>
              <a:t>4. 주요 기능 및 시연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00212"/>
            <a:ext cx="2209800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185987"/>
            <a:ext cx="554069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A5B4FC"/>
                </a:solidFill>
                <a:latin typeface="Poppins SemiBold"/>
              </a:rPr>
              <a:t>실제 구동 화면이나 핵심 기능을 1~2장으로 요약하여 보여주세요.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367087"/>
            <a:ext cx="52768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이 장표에서는 프로그램이 실제로 작동하는 모습을 청중에게 직관적으로 전달합니다.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310062"/>
            <a:ext cx="5276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94A3B8"/>
                </a:solidFill>
                <a:latin typeface="Lato"/>
              </a:rPr>
              <a:t>시연 포인트 가이드: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4852987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852987"/>
            <a:ext cx="5086350" cy="3048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가장 사용성이 높은 핵심 기능 위주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5253037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5253037"/>
            <a:ext cx="5086350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Lato"/>
              </a:rPr>
              <a:t>사용자가 입력하는 값(Prompt)과 AI가 출력하는 결과물(Output)의 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1834455"/>
            <a:ext cx="11581447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0" i="0" u="none">
                <a:solidFill>
                  <a:srgbClr val="06B6D4"/>
                </a:solidFill>
                <a:latin typeface="Poppins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529905"/>
            <a:ext cx="1102995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F1F5F9"/>
                </a:solidFill>
                <a:latin typeface="Lato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528095"/>
            <a:ext cx="11029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Lato"/>
              </a:rPr>
              <a:t>[안내] 발표 시간은 2~3분을 넘지 않도록 각 슬라이드의 핵심 키워드 위주로 설명해 주세요.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27151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75694"/>
            <a:ext cx="1533525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070026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https://static.vecteezy.com/system/resources/thumbnails/035/485/340/small/ai-generated-bright-and-clean-office-environment-abstract-background-bright-office-with-plants-and-large-windows-by-generated-ai-photo.jpg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51383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5855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4052887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https://png.pngtree.com/thumb_back/fh260/background/20260730/pngtree-abstract-futuristic-technology-data-wave-background-with-glowing-blue-ai-digital-image_22102064.webp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496692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pngtree.com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FFFFFF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